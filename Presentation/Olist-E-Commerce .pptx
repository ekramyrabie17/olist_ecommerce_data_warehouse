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Public Sans" panose="020B0604020202020204" charset="0"/>
      <p:regular r:id="rId19"/>
    </p:embeddedFont>
    <p:embeddedFont>
      <p:font typeface="Public Sans Bold" panose="020B0604020202020204" charset="0"/>
      <p:regular r:id="rId20"/>
    </p:embeddedFont>
    <p:embeddedFont>
      <p:font typeface="Public Sans SemiBold" panose="020B0604020202020204" charset="0"/>
      <p:regular r:id="rId21"/>
    </p:embeddedFont>
    <p:embeddedFont>
      <p:font typeface="Sora ExtraBold" panose="020B0604020202020204" charset="0"/>
      <p:regular r:id="rId22"/>
    </p:embeddedFont>
    <p:embeddedFont>
      <p:font typeface="Sora Semi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43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898525"/>
            <a:ext cx="8019849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100" spc="-8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Olist E-Commerce Data Warehouse &amp; Business Analytics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65156" y="2942828"/>
            <a:ext cx="862943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 Server | Medallion Architecture | Exploratory Data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24873" y="5283722"/>
            <a:ext cx="9850458" cy="155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members : Mariam Atef - Joya Sabry -  Rewan Khaled</a:t>
            </a:r>
          </a:p>
          <a:p>
            <a:pPr>
              <a:lnSpc>
                <a:spcPct val="112000"/>
              </a:lnSpc>
            </a:pPr>
            <a:r>
              <a:rPr lang="en-US" sz="1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        </a:t>
            </a:r>
            <a:r>
              <a:rPr lang="en-US" sz="1400" b="1" dirty="0" err="1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Ekramy</a:t>
            </a:r>
            <a:r>
              <a:rPr lang="en-US" sz="1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Rabie   - Mostafa Hamdy - Mohamed Khaled </a:t>
            </a:r>
          </a:p>
          <a:p>
            <a:pPr>
              <a:lnSpc>
                <a:spcPct val="112000"/>
              </a:lnSpc>
            </a:pPr>
            <a:endParaRPr lang="en-US" sz="1400" b="1" dirty="0">
              <a:solidFill>
                <a:srgbClr val="FFFFFF"/>
              </a:solidFill>
              <a:latin typeface="Public Sans" pitchFamily="34" charset="0"/>
              <a:ea typeface="Public Sans" pitchFamily="34" charset="-122"/>
              <a:cs typeface="Public Sans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· Instructor:  </a:t>
            </a:r>
            <a:r>
              <a:rPr lang="en-US" sz="1400" b="1" dirty="0" err="1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kholoud</a:t>
            </a:r>
            <a:r>
              <a:rPr lang="en-US" sz="14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Ali</a:t>
            </a:r>
            <a:endParaRPr lang="en-US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8AE97-80BF-3780-4D7C-AEB5A44F9858}"/>
              </a:ext>
            </a:extLst>
          </p:cNvPr>
          <p:cNvSpPr txBox="1"/>
          <p:nvPr/>
        </p:nvSpPr>
        <p:spPr>
          <a:xfrm>
            <a:off x="5689600" y="5726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From raw commerce data to business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2092868" cy="2857202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3578" y="1534616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63578" y="1858466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3578" y="2040969"/>
            <a:ext cx="1584881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 e-commerce data and sales-related tables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9450" y="1280616"/>
            <a:ext cx="2092868" cy="2857202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83443" y="1534616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3083443" y="1858466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83443" y="2040969"/>
            <a:ext cx="158488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the SQL Server data warehouse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49314" y="1280616"/>
            <a:ext cx="2092967" cy="2857202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308" y="1534616"/>
            <a:ext cx="91199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303308" y="1858466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308" y="2040969"/>
            <a:ext cx="1584980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Process data through Bronze, Silver, and Gold layers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69278" y="1280616"/>
            <a:ext cx="2092868" cy="2857202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23272" y="1534616"/>
            <a:ext cx="91120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7523272" y="1858466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23272" y="2040969"/>
            <a:ext cx="1584881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Answer business questions with SQL-based exploratory analysis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89143" y="1280616"/>
            <a:ext cx="2092967" cy="2857202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43137" y="1534616"/>
            <a:ext cx="91546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05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9743137" y="1858466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43137" y="2040969"/>
            <a:ext cx="1584980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Develop the interactive dashboard next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9585" y="4334192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Completed through EDA; dashboard remains in progress.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811994" y="6451898"/>
            <a:ext cx="37970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6502237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Business decisions need a reliable view of commerce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190849"/>
            <a:ext cx="6502237" cy="2094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Track sales performance and order trends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Understand delivery performance and delays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product categories and sellers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Evaluate geographic concentration and freight costs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Monitor order cancellations and incomplete delivery information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4481334"/>
            <a:ext cx="650223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Objective: transform raw e-commerce data into structured, reliable, business-oriented insights that support decision-making.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99722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dataset connects sales, orders, products, sellers, and delivery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8431"/>
            <a:ext cx="1097252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analysis uses sales-related information including order status, sales amounts, freight values, product categories, seller locations, and delivery dates.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394" y="2555478"/>
            <a:ext cx="3682908" cy="3682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11964" y="3030885"/>
            <a:ext cx="1185265" cy="11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00" kern="100" spc="-7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Sales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611964" y="3221670"/>
            <a:ext cx="1185265" cy="6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Aggregated revenue metrics that inform Orders and Products insights.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98149" y="3030885"/>
            <a:ext cx="1185265" cy="11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00" kern="100" spc="-7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Orders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398149" y="3221670"/>
            <a:ext cx="1185265" cy="6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Transaction records linking Sales with Products and Delivery status.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611964" y="4817114"/>
            <a:ext cx="1185265" cy="11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00" kern="100" spc="-7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11964" y="5007899"/>
            <a:ext cx="1185265" cy="6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Catalog details that influence Sales trends and Seller offerings.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98149" y="4817114"/>
            <a:ext cx="1185265" cy="11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00" kern="100" spc="-7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Sellers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398149" y="5007899"/>
            <a:ext cx="1185265" cy="6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Vendor profiles coordinating product availability and fulfillment.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807629" y="6451898"/>
            <a:ext cx="3840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warehouse turns business events into analytical context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35733"/>
            <a:ext cx="431789" cy="4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2303105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Fact tables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585" y="2758678"/>
            <a:ext cx="251453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measurable business events such as sales and orders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310" y="1735733"/>
            <a:ext cx="431789" cy="4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81310" y="2303105"/>
            <a:ext cx="22859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Dimension tables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581310" y="2758678"/>
            <a:ext cx="2285943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descriptive context for analysis, where applicable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2" y="1735733"/>
            <a:ext cx="431789" cy="4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24442" y="2303105"/>
            <a:ext cx="22859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 analysis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324442" y="2758678"/>
            <a:ext cx="2285943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structured queries that aggregate and compare business performance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573" y="1735733"/>
            <a:ext cx="431789" cy="4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67573" y="2303105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 analysis source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067573" y="2758678"/>
            <a:ext cx="2514537" cy="54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highlight>
                  <a:srgbClr val="E4EA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dbo.sales_copy</a:t>
            </a: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described as a copy of </a:t>
            </a:r>
            <a:r>
              <a:rPr lang="en-US" sz="1450" dirty="0">
                <a:solidFill>
                  <a:srgbClr val="3A4756"/>
                </a:solidFill>
                <a:highlight>
                  <a:srgbClr val="E4EAE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gold.fact_sales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09585" y="3756045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Keep all other schema details editable and unclaimed.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3346366" y="1735733"/>
            <a:ext cx="12700" cy="1823938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089498" y="1735733"/>
            <a:ext cx="12700" cy="1823938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8832629" y="1735733"/>
            <a:ext cx="12700" cy="1823938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Medallion Architecture creates a path from raw data to insight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858" y="1713508"/>
            <a:ext cx="9471979" cy="3428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1417" y="2227855"/>
            <a:ext cx="5844060" cy="306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Bronze Layer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051417" y="3269773"/>
            <a:ext cx="5844060" cy="30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Silver Layer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051417" y="4302217"/>
            <a:ext cx="5844060" cy="306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Gold Layer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5338782"/>
            <a:ext cx="1097252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These are standard architecture purposes; do not claim unconfirmed transformations, joins, validation rules, or implemented tables.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Fourteen business questions structure the 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5422764" cy="791170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8179" y="1543189"/>
            <a:ext cx="49655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Sales trends and order value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59346" y="1280616"/>
            <a:ext cx="5422764" cy="791170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87940" y="1543189"/>
            <a:ext cx="49655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Order status and delivery performance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5" y="2198688"/>
            <a:ext cx="5422764" cy="791170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8179" y="2461260"/>
            <a:ext cx="49655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Freight cost analysis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59346" y="2198688"/>
            <a:ext cx="5422764" cy="791170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87940" y="2461260"/>
            <a:ext cx="49655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Product category performance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5" y="3116759"/>
            <a:ext cx="5422764" cy="791170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8179" y="3379331"/>
            <a:ext cx="49655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Seller and geographic performance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59346" y="3116759"/>
            <a:ext cx="5422764" cy="791170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7940" y="3379331"/>
            <a:ext cx="49655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Late-delivery and cancellation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585" y="4105176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 Question → SQL Query → Aggregated Results → Business Insight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13979" y="6451898"/>
            <a:ext cx="37771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Delivered orders generated 13,221,498.11 in reported sales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735733"/>
            <a:ext cx="3594010" cy="1030288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7380" y="1939868"/>
            <a:ext cx="32384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98,666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2377480"/>
            <a:ext cx="34162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distinct orders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30592" y="1735733"/>
            <a:ext cx="3551744" cy="1030288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08387" y="1939868"/>
            <a:ext cx="319615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96,478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08387" y="2377480"/>
            <a:ext cx="33739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delivered orders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09233" y="1735733"/>
            <a:ext cx="3572877" cy="1030288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87029" y="1939868"/>
            <a:ext cx="32172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97.78%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87029" y="2377480"/>
            <a:ext cx="3395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delivered-order rate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585" y="2893020"/>
            <a:ext cx="3594010" cy="10302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7380" y="3097156"/>
            <a:ext cx="32384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13,221,498.11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7380" y="3534767"/>
            <a:ext cx="34162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delivered sales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30592" y="2893020"/>
            <a:ext cx="7251519" cy="1030288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08387" y="3097156"/>
            <a:ext cx="68959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137.04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08387" y="3534767"/>
            <a:ext cx="70737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delivered order value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585" y="4116983"/>
            <a:ext cx="6045049" cy="1431528"/>
          </a:xfrm>
          <a:prstGeom prst="rect">
            <a:avLst/>
          </a:prstGeom>
          <a:solidFill>
            <a:srgbClr val="E4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2780" y="4323755"/>
            <a:ext cx="58418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987,765.37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2780" y="4736743"/>
            <a:ext cx="563865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peak monthly delivered sales in November 2017, across 7,289 orders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59327" y="4116983"/>
            <a:ext cx="4622784" cy="1431528"/>
          </a:xfrm>
          <a:prstGeom prst="roundRect">
            <a:avLst>
              <a:gd name="adj" fmla="val 2262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87921" y="4349155"/>
            <a:ext cx="43941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Monthly delivered-sales trend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87921" y="4689594"/>
            <a:ext cx="416559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Insert monthly delivered-sales series from workbook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Most delivered orders arrived early, but late deliveries remain visible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53518"/>
            <a:ext cx="6349841" cy="3112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2713" y="1764705"/>
            <a:ext cx="408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delivery time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492713" y="2238335"/>
            <a:ext cx="4089397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kern="100" spc="-168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12.47 days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7492713" y="3089573"/>
            <a:ext cx="408939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Range: </a:t>
            </a:r>
            <a:r>
              <a:rPr lang="en-US" sz="1250" b="1" dirty="0">
                <a:solidFill>
                  <a:srgbClr val="53627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0.53–209.63 days</a:t>
            </a: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; the maximum may represent an outlier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92713" y="3694013"/>
            <a:ext cx="4089397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92713" y="3905151"/>
            <a:ext cx="4089397" cy="137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Approximately 92%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arrived early and </a:t>
            </a: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6.8%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arrived late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19.95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average freight value for delivered rows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808919" y="6451898"/>
            <a:ext cx="38277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547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Sales concentrate in health_beauty and São Paulo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9189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Product category performance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16187"/>
            <a:ext cx="4952876" cy="279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599484"/>
            <a:ext cx="53338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3627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bed_bath_table:</a:t>
            </a: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highest order count among the listed categories at </a:t>
            </a:r>
            <a:r>
              <a:rPr lang="en-US" sz="1250" b="1" dirty="0">
                <a:solidFill>
                  <a:srgbClr val="53627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9,272</a:t>
            </a: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orders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48244" y="1289189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Seller-state performance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1716187"/>
            <a:ext cx="4952876" cy="279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8244" y="4599484"/>
            <a:ext cx="53338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3627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Seller key 858:</a:t>
            </a: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top seller at </a:t>
            </a:r>
            <a:r>
              <a:rPr lang="en-US" sz="1250" b="1" dirty="0">
                <a:solidFill>
                  <a:srgbClr val="53627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226,987.93</a:t>
            </a: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located in Guariba, SP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09585" y="5218212"/>
            <a:ext cx="5410065" cy="617835"/>
          </a:xfrm>
          <a:prstGeom prst="rect">
            <a:avLst/>
          </a:prstGeom>
          <a:solidFill>
            <a:srgbClr val="E4EA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12780" y="5373310"/>
            <a:ext cx="520687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9 of the 10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highest-sales sellers are located in SP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172046" y="5218212"/>
            <a:ext cx="5410065" cy="617835"/>
          </a:xfrm>
          <a:prstGeom prst="roundRect">
            <a:avLst>
              <a:gd name="adj" fmla="val 5242"/>
            </a:avLst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0640" y="5399584"/>
            <a:ext cx="51814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Insert missing comparison values from workbook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838386" y="6451898"/>
            <a:ext cx="35330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C2171-1113-CA1F-909E-AA2DEAE341D6}"/>
              </a:ext>
            </a:extLst>
          </p:cNvPr>
          <p:cNvSpPr txBox="1"/>
          <p:nvPr/>
        </p:nvSpPr>
        <p:spPr>
          <a:xfrm>
            <a:off x="490537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A0FD6-FC7E-786E-1B8B-B94F8DEF5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96589"/>
            <a:ext cx="11971282" cy="534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4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F9CA71-8543-4234-BF47-D9E7DAF40BCC}"/>
              </a:ext>
            </a:extLst>
          </p:cNvPr>
          <p:cNvSpPr txBox="1"/>
          <p:nvPr/>
        </p:nvSpPr>
        <p:spPr>
          <a:xfrm>
            <a:off x="4152900" y="2855952"/>
            <a:ext cx="5029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8403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548</Words>
  <Application>Microsoft Office PowerPoint</Application>
  <PresentationFormat>Widescreen</PresentationFormat>
  <Paragraphs>107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Sora SemiBold</vt:lpstr>
      <vt:lpstr>Public Sans SemiBold</vt:lpstr>
      <vt:lpstr>Sora ExtraBold</vt:lpstr>
      <vt:lpstr>Calibri Light</vt:lpstr>
      <vt:lpstr>Consolas</vt:lpstr>
      <vt:lpstr>Public Sans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AIO</dc:creator>
  <cp:lastModifiedBy>Mohamed Khaled</cp:lastModifiedBy>
  <cp:revision>2</cp:revision>
  <dcterms:created xsi:type="dcterms:W3CDTF">2026-10-15T10:56:48Z</dcterms:created>
  <dcterms:modified xsi:type="dcterms:W3CDTF">2026-10-15T16:41:55Z</dcterms:modified>
</cp:coreProperties>
</file>